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0"/>
            <a:ext cx="111858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Calibri"/>
              </a:defRPr>
            </a:pPr>
            <a:r>
              <a:t>Курсовая работа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965960"/>
            <a:ext cx="111858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Calibri"/>
              </a:defRPr>
            </a:pPr>
            <a:r>
              <a:t>Разработка клиент-серверного</a:t>
            </a:r>
            <a:br/>
            <a:r>
              <a:t>мобильного приложения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880360"/>
            <a:ext cx="111858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B4D2FF"/>
                </a:solidFill>
                <a:latin typeface="Calibri"/>
              </a:defRPr>
            </a:pPr>
            <a:r>
              <a:t>«Бэклог фильмов» (Кинополка)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114800"/>
            <a:ext cx="11185855" cy="2011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spcAft>
                <a:spcPts val="8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Дисциплина: Разработка кроссплатформенных и серверных мобильных приложений</a:t>
            </a:r>
          </a:p>
          <a:p>
            <a:pPr algn="ctr">
              <a:spcAft>
                <a:spcPts val="8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Выполнил: студент группы ИКБО-65-23  Хайдаров С.Р.</a:t>
            </a:r>
          </a:p>
          <a:p>
            <a:pPr algn="ctr">
              <a:spcAft>
                <a:spcPts val="8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Проверил: ____________________</a:t>
            </a:r>
          </a:p>
          <a:p>
            <a:pPr algn="ctr">
              <a:spcAft>
                <a:spcPts val="8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Москва,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11858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Calibri"/>
              </a:defRPr>
            </a:pPr>
            <a:r>
              <a:t>Цель и задачи работы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10972800" cy="5349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85"/>
              </a:spcAft>
              <a:defRPr sz="2200">
                <a:solidFill>
                  <a:srgbClr val="404040"/>
                </a:solidFill>
                <a:latin typeface="Calibri"/>
              </a:defRPr>
            </a:pPr>
            <a:r>
              <a:t>Цель: разработать и протестировать клиент-серверное Android-приложение для ведения личного бэклога фильмов.</a:t>
            </a:r>
          </a:p>
          <a:p>
            <a:pPr>
              <a:spcAft>
                <a:spcPts val="885"/>
              </a:spcAft>
              <a:defRPr sz="2200">
                <a:solidFill>
                  <a:srgbClr val="404040"/>
                </a:solidFill>
                <a:latin typeface="Calibri"/>
              </a:defRPr>
            </a:pPr>
            <a:r>
              <a:t>Проанализировать предметную область и существующие аналоги.</a:t>
            </a:r>
          </a:p>
          <a:p>
            <a:pPr>
              <a:spcAft>
                <a:spcPts val="885"/>
              </a:spcAft>
              <a:defRPr sz="2200">
                <a:solidFill>
                  <a:srgbClr val="404040"/>
                </a:solidFill>
                <a:latin typeface="Calibri"/>
              </a:defRPr>
            </a:pPr>
            <a:r>
              <a:t>Обосновать выбор технологического стека.</a:t>
            </a:r>
          </a:p>
          <a:p>
            <a:pPr>
              <a:spcAft>
                <a:spcPts val="885"/>
              </a:spcAft>
              <a:defRPr sz="2200">
                <a:solidFill>
                  <a:srgbClr val="404040"/>
                </a:solidFill>
                <a:latin typeface="Calibri"/>
              </a:defRPr>
            </a:pPr>
            <a:r>
              <a:t>Определить функциональные и нефункциональные требования.</a:t>
            </a:r>
          </a:p>
          <a:p>
            <a:pPr>
              <a:spcAft>
                <a:spcPts val="885"/>
              </a:spcAft>
              <a:defRPr sz="2200">
                <a:solidFill>
                  <a:srgbClr val="404040"/>
                </a:solidFill>
                <a:latin typeface="Calibri"/>
              </a:defRPr>
            </a:pPr>
            <a:r>
              <a:t>Спроектировать интерфейс, логическую модель и базу данных.</a:t>
            </a:r>
          </a:p>
          <a:p>
            <a:pPr>
              <a:spcAft>
                <a:spcPts val="885"/>
              </a:spcAft>
              <a:defRPr sz="2200">
                <a:solidFill>
                  <a:srgbClr val="404040"/>
                </a:solidFill>
                <a:latin typeface="Calibri"/>
              </a:defRPr>
            </a:pPr>
            <a:r>
              <a:t>Реализовать клиентскую и серверную части, провести тестирование.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11858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Calibri"/>
              </a:defRPr>
            </a:pPr>
            <a:r>
              <a:t>Актуальность и проблема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10972800" cy="5349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85"/>
              </a:spcAft>
              <a:defRPr sz="2200">
                <a:solidFill>
                  <a:srgbClr val="404040"/>
                </a:solidFill>
                <a:latin typeface="Calibri"/>
              </a:defRPr>
            </a:pPr>
            <a:r>
              <a:t>Списки «надо посмотреть» быстро разрастаются и теряются в заметках и мессенджерах.</a:t>
            </a:r>
          </a:p>
          <a:p>
            <a:pPr>
              <a:spcAft>
                <a:spcPts val="885"/>
              </a:spcAft>
              <a:defRPr sz="2200">
                <a:solidFill>
                  <a:srgbClr val="404040"/>
                </a:solidFill>
                <a:latin typeface="Calibri"/>
              </a:defRPr>
            </a:pPr>
            <a:r>
              <a:t>Стриминговые сервисы не дают удобного личного учёта с оценками и заметками.</a:t>
            </a:r>
          </a:p>
          <a:p>
            <a:pPr>
              <a:spcAft>
                <a:spcPts val="885"/>
              </a:spcAft>
              <a:defRPr sz="2200">
                <a:solidFill>
                  <a:srgbClr val="404040"/>
                </a:solidFill>
                <a:latin typeface="Calibri"/>
              </a:defRPr>
            </a:pPr>
            <a:r>
              <a:t>Пользователю нужен простой инструмент: статус просмотра, оценка, заметка, статистика.</a:t>
            </a:r>
          </a:p>
          <a:p>
            <a:pPr>
              <a:spcAft>
                <a:spcPts val="885"/>
              </a:spcAft>
              <a:defRPr sz="2200">
                <a:solidFill>
                  <a:srgbClr val="404040"/>
                </a:solidFill>
                <a:latin typeface="Calibri"/>
              </a:defRPr>
            </a:pPr>
            <a:r>
              <a:t>«Кинополка» решает задачу структурированного учёта фильмов с синхронизацией на сервере.</a:t>
            </a:r>
          </a:p>
          <a:p>
            <a:pPr>
              <a:spcAft>
                <a:spcPts val="885"/>
              </a:spcAft>
              <a:defRPr sz="2200">
                <a:solidFill>
                  <a:srgbClr val="404040"/>
                </a:solidFill>
                <a:latin typeface="Calibri"/>
              </a:defRPr>
            </a:pPr>
            <a:r>
              <a:t>Данные доступны с любого устройства после авторизации.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11858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Calibri"/>
              </a:defRPr>
            </a:pPr>
            <a:r>
              <a:t>Сравнение с аналогами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10972800" cy="5349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85"/>
              </a:spcAft>
              <a:defRPr sz="2200">
                <a:solidFill>
                  <a:srgbClr val="404040"/>
                </a:solidFill>
                <a:latin typeface="Calibri"/>
              </a:defRPr>
            </a:pPr>
            <a:r>
              <a:t>Letterboxd — социальная платформа, англоязычный интерфейс, нет открытого API.</a:t>
            </a:r>
          </a:p>
          <a:p>
            <a:pPr>
              <a:spcAft>
                <a:spcPts val="885"/>
              </a:spcAft>
              <a:defRPr sz="2200">
                <a:solidFill>
                  <a:srgbClr val="404040"/>
                </a:solidFill>
                <a:latin typeface="Calibri"/>
              </a:defRPr>
            </a:pPr>
            <a:r>
              <a:t>IMDb — огромная база, но личный учёт просмотра реализован ограниченно.</a:t>
            </a:r>
          </a:p>
          <a:p>
            <a:pPr>
              <a:spcAft>
                <a:spcPts val="885"/>
              </a:spcAft>
              <a:defRPr sz="2200">
                <a:solidFill>
                  <a:srgbClr val="404040"/>
                </a:solidFill>
                <a:latin typeface="Calibri"/>
              </a:defRPr>
            </a:pPr>
            <a:r>
              <a:t>Кинопоиск — ориентирован на продажу подписки, а не на личный бэклог.</a:t>
            </a:r>
          </a:p>
          <a:p>
            <a:pPr>
              <a:spcAft>
                <a:spcPts val="885"/>
              </a:spcAft>
              <a:defRPr sz="2200">
                <a:solidFill>
                  <a:srgbClr val="404040"/>
                </a:solidFill>
                <a:latin typeface="Calibri"/>
              </a:defRPr>
            </a:pPr>
            <a:r>
              <a:t>«Кинополка»: русскоязычный UI, фокус на статусах и заметках, открытая REST-архитектура.</a:t>
            </a:r>
          </a:p>
          <a:p>
            <a:pPr>
              <a:spcAft>
                <a:spcPts val="885"/>
              </a:spcAft>
              <a:defRPr sz="2200">
                <a:solidFill>
                  <a:srgbClr val="404040"/>
                </a:solidFill>
                <a:latin typeface="Calibri"/>
              </a:defRPr>
            </a:pPr>
            <a:r>
              <a:t>Клиент-серверное хранение данных и возможность дальнейшего развития.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11858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Calibri"/>
              </a:defRPr>
            </a:pPr>
            <a:r>
              <a:t>Функциональные возможности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10972800" cy="5349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85"/>
              </a:spcAft>
              <a:defRPr sz="2200">
                <a:solidFill>
                  <a:srgbClr val="404040"/>
                </a:solidFill>
                <a:latin typeface="Calibri"/>
              </a:defRPr>
            </a:pPr>
            <a:r>
              <a:t>Регистрация и вход с JWT-авторизацией.</a:t>
            </a:r>
          </a:p>
          <a:p>
            <a:pPr>
              <a:spcAft>
                <a:spcPts val="885"/>
              </a:spcAft>
              <a:defRPr sz="2200">
                <a:solidFill>
                  <a:srgbClr val="404040"/>
                </a:solidFill>
                <a:latin typeface="Calibri"/>
              </a:defRPr>
            </a:pPr>
            <a:r>
              <a:t>Каталог фильмов с поиском по названию (26 фильмов в демо-каталоге).</a:t>
            </a:r>
          </a:p>
          <a:p>
            <a:pPr>
              <a:spcAft>
                <a:spcPts val="885"/>
              </a:spcAft>
              <a:defRPr sz="2200">
                <a:solidFill>
                  <a:srgbClr val="404040"/>
                </a:solidFill>
                <a:latin typeface="Calibri"/>
              </a:defRPr>
            </a:pPr>
            <a:r>
              <a:t>Добавление в бэклог: «Хочу посмотреть», «Смотрю», «Посмотрел».</a:t>
            </a:r>
          </a:p>
          <a:p>
            <a:pPr>
              <a:spcAft>
                <a:spcPts val="885"/>
              </a:spcAft>
              <a:defRPr sz="2200">
                <a:solidFill>
                  <a:srgbClr val="404040"/>
                </a:solidFill>
                <a:latin typeface="Calibri"/>
              </a:defRPr>
            </a:pPr>
            <a:r>
              <a:t>Пользовательская оценка (0–10) и текстовые заметки.</a:t>
            </a:r>
          </a:p>
          <a:p>
            <a:pPr>
              <a:spcAft>
                <a:spcPts val="885"/>
              </a:spcAft>
              <a:defRPr sz="2200">
                <a:solidFill>
                  <a:srgbClr val="404040"/>
                </a:solidFill>
                <a:latin typeface="Calibri"/>
              </a:defRPr>
            </a:pPr>
            <a:r>
              <a:t>Фильтрация бэклога по статусу, статистика в профиле.</a:t>
            </a:r>
          </a:p>
          <a:p>
            <a:pPr>
              <a:spcAft>
                <a:spcPts val="885"/>
              </a:spcAft>
              <a:defRPr sz="2200">
                <a:solidFill>
                  <a:srgbClr val="404040"/>
                </a:solidFill>
                <a:latin typeface="Calibri"/>
              </a:defRPr>
            </a:pPr>
            <a:r>
              <a:t>Синхронизация данных между клиентом и сервером по REST API.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11858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Calibri"/>
              </a:defRPr>
            </a:pPr>
            <a:r>
              <a:t>Технологический стек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000">
                <a:solidFill>
                  <a:srgbClr val="0066B4"/>
                </a:solidFill>
                <a:latin typeface="Calibri"/>
              </a:defRPr>
            </a:pPr>
            <a:r>
              <a:t>Android-клиент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097280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000">
                <a:solidFill>
                  <a:srgbClr val="0066B4"/>
                </a:solidFill>
                <a:latin typeface="Calibri"/>
              </a:defRPr>
            </a:pPr>
            <a:r>
              <a:t>Сервер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08760"/>
            <a:ext cx="5303520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24"/>
              </a:spcAft>
              <a:defRPr sz="1800">
                <a:solidFill>
                  <a:srgbClr val="404040"/>
                </a:solidFill>
                <a:latin typeface="Calibri"/>
              </a:defRPr>
            </a:pPr>
            <a:r>
              <a:t>Kotlin</a:t>
            </a:r>
          </a:p>
          <a:p>
            <a:pPr>
              <a:spcAft>
                <a:spcPts val="724"/>
              </a:spcAft>
              <a:defRPr sz="1800">
                <a:solidFill>
                  <a:srgbClr val="404040"/>
                </a:solidFill>
                <a:latin typeface="Calibri"/>
              </a:defRPr>
            </a:pPr>
            <a:r>
              <a:t>Jetpack Compose, Material 3</a:t>
            </a:r>
          </a:p>
          <a:p>
            <a:pPr>
              <a:spcAft>
                <a:spcPts val="724"/>
              </a:spcAft>
              <a:defRPr sz="1800">
                <a:solidFill>
                  <a:srgbClr val="404040"/>
                </a:solidFill>
                <a:latin typeface="Calibri"/>
              </a:defRPr>
            </a:pPr>
            <a:r>
              <a:t>Navigation Compose, Hilt</a:t>
            </a:r>
          </a:p>
          <a:p>
            <a:pPr>
              <a:spcAft>
                <a:spcPts val="724"/>
              </a:spcAft>
              <a:defRPr sz="1800">
                <a:solidFill>
                  <a:srgbClr val="404040"/>
                </a:solidFill>
                <a:latin typeface="Calibri"/>
              </a:defRPr>
            </a:pPr>
            <a:r>
              <a:t>Retrofit, OkHttp, Coil</a:t>
            </a:r>
          </a:p>
          <a:p>
            <a:pPr>
              <a:spcAft>
                <a:spcPts val="724"/>
              </a:spcAft>
              <a:defRPr sz="1800">
                <a:solidFill>
                  <a:srgbClr val="404040"/>
                </a:solidFill>
                <a:latin typeface="Calibri"/>
              </a:defRPr>
            </a:pPr>
            <a:r>
              <a:t>ViewModel, StateFlow, MVVM</a:t>
            </a:r>
          </a:p>
          <a:p>
            <a:pPr>
              <a:spcAft>
                <a:spcPts val="724"/>
              </a:spcAft>
              <a:defRPr sz="1800">
                <a:solidFill>
                  <a:srgbClr val="404040"/>
                </a:solidFill>
                <a:latin typeface="Calibri"/>
              </a:defRPr>
            </a:pPr>
            <a:r>
              <a:t>Android SDK 35, minSdk 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508760"/>
            <a:ext cx="5303520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24"/>
              </a:spcAft>
              <a:defRPr sz="1800">
                <a:solidFill>
                  <a:srgbClr val="404040"/>
                </a:solidFill>
                <a:latin typeface="Calibri"/>
              </a:defRPr>
            </a:pPr>
            <a:r>
              <a:t>Kotlin, Spring Boot 3</a:t>
            </a:r>
          </a:p>
          <a:p>
            <a:pPr>
              <a:spcAft>
                <a:spcPts val="724"/>
              </a:spcAft>
              <a:defRPr sz="1800">
                <a:solidFill>
                  <a:srgbClr val="404040"/>
                </a:solidFill>
                <a:latin typeface="Calibri"/>
              </a:defRPr>
            </a:pPr>
            <a:r>
              <a:t>Spring Web, Spring Data JPA</a:t>
            </a:r>
          </a:p>
          <a:p>
            <a:pPr>
              <a:spcAft>
                <a:spcPts val="724"/>
              </a:spcAft>
              <a:defRPr sz="1800">
                <a:solidFill>
                  <a:srgbClr val="404040"/>
                </a:solidFill>
                <a:latin typeface="Calibri"/>
              </a:defRPr>
            </a:pPr>
            <a:r>
              <a:t>Hibernate, H2 (файловая БД)</a:t>
            </a:r>
          </a:p>
          <a:p>
            <a:pPr>
              <a:spcAft>
                <a:spcPts val="724"/>
              </a:spcAft>
              <a:defRPr sz="1800">
                <a:solidFill>
                  <a:srgbClr val="404040"/>
                </a:solidFill>
                <a:latin typeface="Calibri"/>
              </a:defRPr>
            </a:pPr>
            <a:r>
              <a:t>JJWT — авторизация</a:t>
            </a:r>
          </a:p>
          <a:p>
            <a:pPr>
              <a:spcAft>
                <a:spcPts val="724"/>
              </a:spcAft>
              <a:defRPr sz="1800">
                <a:solidFill>
                  <a:srgbClr val="404040"/>
                </a:solidFill>
                <a:latin typeface="Calibri"/>
              </a:defRPr>
            </a:pPr>
            <a:r>
              <a:t>BCrypt — хеширование паролей</a:t>
            </a:r>
          </a:p>
          <a:p>
            <a:pPr>
              <a:spcAft>
                <a:spcPts val="724"/>
              </a:spcAft>
              <a:defRPr sz="1800">
                <a:solidFill>
                  <a:srgbClr val="404040"/>
                </a:solidFill>
                <a:latin typeface="Calibri"/>
              </a:defRPr>
            </a:pPr>
            <a:r>
              <a:t>REST API, JSON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11858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Calibri"/>
              </a:defRPr>
            </a:pPr>
            <a:r>
              <a:t>Архитектура приложения</a:t>
            </a:r>
          </a:p>
        </p:txBody>
      </p:sp>
      <p:pic>
        <p:nvPicPr>
          <p:cNvPr id="4" name="Picture 3" descr="a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051560"/>
            <a:ext cx="11155680" cy="719691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263640"/>
            <a:ext cx="1091153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404040"/>
                </a:solidFill>
                <a:latin typeface="Calibri"/>
              </a:defRPr>
            </a:pPr>
            <a:r>
              <a:t>Клиент (MVVM) ↔ REST/JSON/JWT ↔ Сервер (Controller → Service → Repository → H2)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11858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Calibri"/>
              </a:defRPr>
            </a:pPr>
            <a:r>
              <a:t>Диаграмма вариантов использования</a:t>
            </a:r>
          </a:p>
        </p:txBody>
      </p:sp>
      <p:pic>
        <p:nvPicPr>
          <p:cNvPr id="4" name="Picture 3" descr="useca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051560"/>
            <a:ext cx="11155680" cy="795497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263640"/>
            <a:ext cx="1091153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404040"/>
                </a:solidFill>
                <a:latin typeface="Calibri"/>
              </a:defRPr>
            </a:pPr>
            <a:r>
              <a:t>Регистрация, работа с каталогом, управление бэклогом, просмотр профиля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11858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Calibri"/>
              </a:defRPr>
            </a:pPr>
            <a:r>
              <a:t>Логическая модель и БД</a:t>
            </a:r>
          </a:p>
        </p:txBody>
      </p:sp>
      <p:pic>
        <p:nvPicPr>
          <p:cNvPr id="4" name="Picture 3" descr="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051560"/>
            <a:ext cx="11155680" cy="714714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263640"/>
            <a:ext cx="1091153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404040"/>
                </a:solidFill>
                <a:latin typeface="Calibri"/>
              </a:defRPr>
            </a:pPr>
            <a:r>
              <a:t>Таблицы: users, movies, backlog_items (связь многие-ко-многим через backlog_items)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11858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Calibri"/>
              </a:defRPr>
            </a:pPr>
            <a:r>
              <a:t>Пользовательский интерфейс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10972800" cy="5349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85"/>
              </a:spcAft>
              <a:defRPr sz="2200">
                <a:solidFill>
                  <a:srgbClr val="404040"/>
                </a:solidFill>
                <a:latin typeface="Calibri"/>
              </a:defRPr>
            </a:pPr>
            <a:r>
              <a:t>Три раздела нижней навигации: Каталог, Бэклог, Профиль.</a:t>
            </a:r>
          </a:p>
          <a:p>
            <a:pPr>
              <a:spcAft>
                <a:spcPts val="885"/>
              </a:spcAft>
              <a:defRPr sz="2200">
                <a:solidFill>
                  <a:srgbClr val="404040"/>
                </a:solidFill>
                <a:latin typeface="Calibri"/>
              </a:defRPr>
            </a:pPr>
            <a:r>
              <a:t>Каталог: поиск, карточки фильмов, добавление в бэклог.</a:t>
            </a:r>
          </a:p>
          <a:p>
            <a:pPr>
              <a:spcAft>
                <a:spcPts val="885"/>
              </a:spcAft>
              <a:defRPr sz="2200">
                <a:solidFill>
                  <a:srgbClr val="404040"/>
                </a:solidFill>
                <a:latin typeface="Calibri"/>
              </a:defRPr>
            </a:pPr>
            <a:r>
              <a:t>Бэклог: фильтры по статусу, редактирование оценки и заметки.</a:t>
            </a:r>
          </a:p>
          <a:p>
            <a:pPr>
              <a:spcAft>
                <a:spcPts val="885"/>
              </a:spcAft>
              <a:defRPr sz="2200">
                <a:solidFill>
                  <a:srgbClr val="404040"/>
                </a:solidFill>
                <a:latin typeface="Calibri"/>
              </a:defRPr>
            </a:pPr>
            <a:r>
              <a:t>Профиль: данные пользователя, статистика, выход из аккаунта.</a:t>
            </a:r>
          </a:p>
          <a:p>
            <a:pPr>
              <a:spcAft>
                <a:spcPts val="885"/>
              </a:spcAft>
              <a:defRPr sz="2200">
                <a:solidFill>
                  <a:srgbClr val="404040"/>
                </a:solidFill>
                <a:latin typeface="Calibri"/>
              </a:defRPr>
            </a:pPr>
            <a:r>
              <a:t>Material 3, поддержка светлой и тёмной темы.</a:t>
            </a:r>
          </a:p>
          <a:p>
            <a:pPr>
              <a:spcAft>
                <a:spcPts val="885"/>
              </a:spcAft>
              <a:defRPr sz="2200">
                <a:solidFill>
                  <a:srgbClr val="404040"/>
                </a:solidFill>
                <a:latin typeface="Calibri"/>
              </a:defRPr>
            </a:pPr>
            <a:r>
              <a:t>На слайдах отчёта — скриншоты работающего приложения.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11858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Calibri"/>
              </a:defRPr>
            </a:pPr>
            <a:r>
              <a:t>REST API (основные эндпоинты)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1091153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066B4"/>
                </a:solidFill>
                <a:latin typeface="Calibri"/>
              </a:defRPr>
            </a:pPr>
            <a:r>
              <a:t>Клиент обращается к http://10.0.2.2:8080 (эмулятор → localhost ПК)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97280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85"/>
              </a:spcAft>
              <a:defRPr sz="2200">
                <a:solidFill>
                  <a:srgbClr val="404040"/>
                </a:solidFill>
                <a:latin typeface="Calibri"/>
              </a:defRPr>
            </a:pPr>
            <a:r>
              <a:t>POST /api/auth/register — регистрация</a:t>
            </a:r>
          </a:p>
          <a:p>
            <a:pPr>
              <a:spcAft>
                <a:spcPts val="885"/>
              </a:spcAft>
              <a:defRPr sz="2200">
                <a:solidFill>
                  <a:srgbClr val="404040"/>
                </a:solidFill>
                <a:latin typeface="Calibri"/>
              </a:defRPr>
            </a:pPr>
            <a:r>
              <a:t>POST /api/auth/login — вход, получение JWT</a:t>
            </a:r>
          </a:p>
          <a:p>
            <a:pPr>
              <a:spcAft>
                <a:spcPts val="885"/>
              </a:spcAft>
              <a:defRPr sz="2200">
                <a:solidFill>
                  <a:srgbClr val="404040"/>
                </a:solidFill>
                <a:latin typeface="Calibri"/>
              </a:defRPr>
            </a:pPr>
            <a:r>
              <a:t>GET /api/movies?query= — каталог и поиск</a:t>
            </a:r>
          </a:p>
          <a:p>
            <a:pPr>
              <a:spcAft>
                <a:spcPts val="885"/>
              </a:spcAft>
              <a:defRPr sz="2200">
                <a:solidFill>
                  <a:srgbClr val="404040"/>
                </a:solidFill>
                <a:latin typeface="Calibri"/>
              </a:defRPr>
            </a:pPr>
            <a:r>
              <a:t>GET /api/backlog?status= — список бэклога</a:t>
            </a:r>
          </a:p>
          <a:p>
            <a:pPr>
              <a:spcAft>
                <a:spcPts val="885"/>
              </a:spcAft>
              <a:defRPr sz="2200">
                <a:solidFill>
                  <a:srgbClr val="404040"/>
                </a:solidFill>
                <a:latin typeface="Calibri"/>
              </a:defRPr>
            </a:pPr>
            <a:r>
              <a:t>POST /api/backlog — добавить фильм</a:t>
            </a:r>
          </a:p>
          <a:p>
            <a:pPr>
              <a:spcAft>
                <a:spcPts val="885"/>
              </a:spcAft>
              <a:defRPr sz="2200">
                <a:solidFill>
                  <a:srgbClr val="404040"/>
                </a:solidFill>
                <a:latin typeface="Calibri"/>
              </a:defRPr>
            </a:pPr>
            <a:r>
              <a:t>PATCH /api/backlog/{id} — изменить статус, оценку, заметку</a:t>
            </a:r>
          </a:p>
          <a:p>
            <a:pPr>
              <a:spcAft>
                <a:spcPts val="885"/>
              </a:spcAft>
              <a:defRPr sz="2200">
                <a:solidFill>
                  <a:srgbClr val="404040"/>
                </a:solidFill>
                <a:latin typeface="Calibri"/>
              </a:defRPr>
            </a:pPr>
            <a:r>
              <a:t>DELETE /api/backlog/{id} — удалить из бэклога</a:t>
            </a:r>
          </a:p>
          <a:p>
            <a:pPr>
              <a:spcAft>
                <a:spcPts val="885"/>
              </a:spcAft>
              <a:defRPr sz="2200">
                <a:solidFill>
                  <a:srgbClr val="404040"/>
                </a:solidFill>
                <a:latin typeface="Calibri"/>
              </a:defRPr>
            </a:pPr>
            <a:r>
              <a:t>GET /api/profile/stats — статистика пользователя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11858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Calibri"/>
              </a:defRPr>
            </a:pPr>
            <a:r>
              <a:t>Запуск и демонстрация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10972800" cy="5349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85"/>
              </a:spcAft>
              <a:defRPr sz="2200">
                <a:solidFill>
                  <a:srgbClr val="404040"/>
                </a:solidFill>
                <a:latin typeface="Calibri"/>
              </a:defRPr>
            </a:pPr>
            <a:r>
              <a:t>1. Запустить сервер: start_server.bat или KinopolkaApplication в Android Studio.</a:t>
            </a:r>
          </a:p>
          <a:p>
            <a:pPr>
              <a:spcAft>
                <a:spcPts val="885"/>
              </a:spcAft>
              <a:defRPr sz="2200">
                <a:solidFill>
                  <a:srgbClr val="404040"/>
                </a:solidFill>
                <a:latin typeface="Calibri"/>
              </a:defRPr>
            </a:pPr>
            <a:r>
              <a:t>2. Дождаться строки Started KinopolkaApplicationKt (порт 8080).</a:t>
            </a:r>
          </a:p>
          <a:p>
            <a:pPr>
              <a:spcAft>
                <a:spcPts val="885"/>
              </a:spcAft>
              <a:defRPr sz="2200">
                <a:solidFill>
                  <a:srgbClr val="404040"/>
                </a:solidFill>
                <a:latin typeface="Calibri"/>
              </a:defRPr>
            </a:pPr>
            <a:r>
              <a:t>3. Открыть MovieBacklogApp в Android Studio, запустить на эмуляторе.</a:t>
            </a:r>
          </a:p>
          <a:p>
            <a:pPr>
              <a:spcAft>
                <a:spcPts val="885"/>
              </a:spcAft>
              <a:defRPr sz="2200">
                <a:solidFill>
                  <a:srgbClr val="404040"/>
                </a:solidFill>
                <a:latin typeface="Calibri"/>
              </a:defRPr>
            </a:pPr>
            <a:r>
              <a:t>4. Зарегистрироваться → найти фильм → добавить в бэклог.</a:t>
            </a:r>
          </a:p>
          <a:p>
            <a:pPr>
              <a:spcAft>
                <a:spcPts val="885"/>
              </a:spcAft>
              <a:defRPr sz="2200">
                <a:solidFill>
                  <a:srgbClr val="404040"/>
                </a:solidFill>
                <a:latin typeface="Calibri"/>
              </a:defRPr>
            </a:pPr>
            <a:r>
              <a:t>5. Изменить статус, поставить оценку, посмотреть статистику.</a:t>
            </a:r>
          </a:p>
          <a:p>
            <a:pPr>
              <a:spcAft>
                <a:spcPts val="885"/>
              </a:spcAft>
              <a:defRPr sz="2200">
                <a:solidFill>
                  <a:srgbClr val="404040"/>
                </a:solidFill>
                <a:latin typeface="Calibri"/>
              </a:defRPr>
            </a:pPr>
            <a:r>
              <a:t>Исходный код: github.com/Suhrob1978/HaydarovSR_KursovayaMobilki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11858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Calibri"/>
              </a:defRPr>
            </a:pPr>
            <a:r>
              <a:t>Тестирование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10972800" cy="5349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85"/>
              </a:spcAft>
              <a:defRPr sz="2200">
                <a:solidFill>
                  <a:srgbClr val="404040"/>
                </a:solidFill>
                <a:latin typeface="Calibri"/>
              </a:defRPr>
            </a:pPr>
            <a:r>
              <a:t>Функциональное (ручное) тестирование по сценариям из отчёта.</a:t>
            </a:r>
          </a:p>
          <a:p>
            <a:pPr>
              <a:spcAft>
                <a:spcPts val="885"/>
              </a:spcAft>
              <a:defRPr sz="2200">
                <a:solidFill>
                  <a:srgbClr val="404040"/>
                </a:solidFill>
                <a:latin typeface="Calibri"/>
              </a:defRPr>
            </a:pPr>
            <a:r>
              <a:t>Проверены: регистрация, вход, каталог, поиск, бэклог, профиль.</a:t>
            </a:r>
          </a:p>
          <a:p>
            <a:pPr>
              <a:spcAft>
                <a:spcPts val="885"/>
              </a:spcAft>
              <a:defRPr sz="2200">
                <a:solidFill>
                  <a:srgbClr val="404040"/>
                </a:solidFill>
                <a:latin typeface="Calibri"/>
              </a:defRPr>
            </a:pPr>
            <a:r>
              <a:t>Обработка ошибок: неверный пароль, повторное добавление, отсутствие сети.</a:t>
            </a:r>
          </a:p>
          <a:p>
            <a:pPr>
              <a:spcAft>
                <a:spcPts val="885"/>
              </a:spcAft>
              <a:defRPr sz="2200">
                <a:solidFill>
                  <a:srgbClr val="404040"/>
                </a:solidFill>
                <a:latin typeface="Calibri"/>
              </a:defRPr>
            </a:pPr>
            <a:r>
              <a:t>Сборка сервера с контекстом Spring Boot — успешно.</a:t>
            </a:r>
          </a:p>
          <a:p>
            <a:pPr>
              <a:spcAft>
                <a:spcPts val="885"/>
              </a:spcAft>
              <a:defRPr sz="2200">
                <a:solidFill>
                  <a:srgbClr val="404040"/>
                </a:solidFill>
                <a:latin typeface="Calibri"/>
              </a:defRPr>
            </a:pPr>
            <a:r>
              <a:t>Все запланированные сценарии пройдены.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11858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Calibri"/>
              </a:defRPr>
            </a:pPr>
            <a:r>
              <a:t>Заключение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10972800" cy="5349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85"/>
              </a:spcAft>
              <a:defRPr sz="2200">
                <a:solidFill>
                  <a:srgbClr val="404040"/>
                </a:solidFill>
                <a:latin typeface="Calibri"/>
              </a:defRPr>
            </a:pPr>
            <a:r>
              <a:t>Разработано клиент-серверное приложение «Кинополка» для Android.</a:t>
            </a:r>
          </a:p>
          <a:p>
            <a:pPr>
              <a:spcAft>
                <a:spcPts val="885"/>
              </a:spcAft>
              <a:defRPr sz="2200">
                <a:solidFill>
                  <a:srgbClr val="404040"/>
                </a:solidFill>
                <a:latin typeface="Calibri"/>
              </a:defRPr>
            </a:pPr>
            <a:r>
              <a:t>Реализованы учёт фильмов по статусам, оценки, заметки и статистика.</a:t>
            </a:r>
          </a:p>
          <a:p>
            <a:pPr>
              <a:spcAft>
                <a:spcPts val="885"/>
              </a:spcAft>
              <a:defRPr sz="2200">
                <a:solidFill>
                  <a:srgbClr val="404040"/>
                </a:solidFill>
                <a:latin typeface="Calibri"/>
              </a:defRPr>
            </a:pPr>
            <a:r>
              <a:t>Применены современные технологии: Compose, Spring Boot, JWT, H2.</a:t>
            </a:r>
          </a:p>
          <a:p>
            <a:pPr>
              <a:spcAft>
                <a:spcPts val="885"/>
              </a:spcAft>
              <a:defRPr sz="2200">
                <a:solidFill>
                  <a:srgbClr val="404040"/>
                </a:solidFill>
                <a:latin typeface="Calibri"/>
              </a:defRPr>
            </a:pPr>
            <a:r>
              <a:t>Приложение работоспособно и готово к демонстрации.</a:t>
            </a:r>
          </a:p>
          <a:p>
            <a:pPr>
              <a:spcAft>
                <a:spcPts val="885"/>
              </a:spcAft>
              <a:defRPr sz="2200">
                <a:solidFill>
                  <a:srgbClr val="404040"/>
                </a:solidFill>
                <a:latin typeface="Calibri"/>
              </a:defRPr>
            </a:pPr>
            <a:r>
              <a:t>Направления развития: рекомендации, интеграция с Kinopoisk/TMDb API, деплой сервера.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6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377440"/>
            <a:ext cx="111858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A365D"/>
                </a:solidFill>
                <a:latin typeface="Calibri"/>
              </a:defRPr>
            </a:pPr>
            <a:r>
              <a:t>Спасибо за внимание!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200400"/>
            <a:ext cx="111858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404040"/>
                </a:solidFill>
                <a:latin typeface="Calibri"/>
              </a:defRPr>
            </a:pPr>
            <a:r>
              <a:t>Вопросы?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0"/>
            <a:ext cx="1118585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0066B4"/>
                </a:solidFill>
                <a:latin typeface="Calibri"/>
              </a:defRPr>
            </a:pPr>
            <a:r>
              <a:t>GitHub: github.com/Suhrob1978/HaydarovSR_KursovayaMobilki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
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65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Курсовая работа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Разработка клиент-серверного</a:t>
            </a:r>
            <a:br/>
            <a:r>
              <a:t>мобильного 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8036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4D2FF"/>
                </a:solidFill>
                <a:latin typeface="Calibri"/>
              </a:defRPr>
            </a:pPr>
            <a:r>
              <a:t>«Бэклог фильмов» (Кинополка)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312" y="4556382"/>
            <a:ext cx="7942238" cy="112851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Дисциплина</a:t>
            </a:r>
            <a:r>
              <a:rPr dirty="0"/>
              <a:t>: </a:t>
            </a:r>
            <a:r>
              <a:rPr lang="ru-RU" b="1" dirty="0"/>
              <a:t>Разработка клиент-серверных мобильных приложений (КР/КП)</a:t>
            </a:r>
            <a:endParaRPr dirty="0"/>
          </a:p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Выполнил</a:t>
            </a:r>
            <a:r>
              <a:rPr dirty="0"/>
              <a:t>: </a:t>
            </a:r>
            <a:r>
              <a:rPr dirty="0" err="1"/>
              <a:t>студент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ИКБО-65-23  </a:t>
            </a:r>
            <a:r>
              <a:rPr dirty="0" err="1"/>
              <a:t>Хайдаров</a:t>
            </a:r>
            <a:r>
              <a:rPr dirty="0"/>
              <a:t> С.Р.</a:t>
            </a:r>
            <a:endParaRPr lang="ru-RU" dirty="0"/>
          </a:p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rPr lang="ru-RU" dirty="0"/>
              <a:t>Москва,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Цель и задачи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rPr dirty="0" err="1"/>
              <a:t>Цель</a:t>
            </a:r>
            <a:r>
              <a:rPr dirty="0"/>
              <a:t>: </a:t>
            </a:r>
            <a:r>
              <a:rPr dirty="0" err="1"/>
              <a:t>разработать</a:t>
            </a:r>
            <a:r>
              <a:rPr dirty="0"/>
              <a:t> и </a:t>
            </a:r>
            <a:r>
              <a:rPr dirty="0" err="1"/>
              <a:t>протестировать</a:t>
            </a:r>
            <a:r>
              <a:rPr dirty="0"/>
              <a:t> </a:t>
            </a:r>
            <a:r>
              <a:rPr dirty="0" err="1"/>
              <a:t>клиент-серверное</a:t>
            </a:r>
            <a:r>
              <a:rPr dirty="0"/>
              <a:t> Android-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ведения</a:t>
            </a:r>
            <a:r>
              <a:rPr dirty="0"/>
              <a:t> </a:t>
            </a:r>
            <a:r>
              <a:rPr dirty="0" err="1"/>
              <a:t>личного</a:t>
            </a:r>
            <a:r>
              <a:rPr dirty="0"/>
              <a:t> </a:t>
            </a:r>
            <a:r>
              <a:rPr dirty="0" err="1"/>
              <a:t>бэклога</a:t>
            </a:r>
            <a:r>
              <a:rPr dirty="0"/>
              <a:t> </a:t>
            </a:r>
            <a:r>
              <a:rPr dirty="0" err="1"/>
              <a:t>фильмов</a:t>
            </a:r>
            <a:r>
              <a:rPr dirty="0"/>
              <a:t>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rPr dirty="0" err="1"/>
              <a:t>Проанализировать</a:t>
            </a:r>
            <a:r>
              <a:rPr dirty="0"/>
              <a:t> </a:t>
            </a:r>
            <a:r>
              <a:rPr dirty="0" err="1"/>
              <a:t>предметную</a:t>
            </a:r>
            <a:r>
              <a:rPr dirty="0"/>
              <a:t> </a:t>
            </a:r>
            <a:r>
              <a:rPr dirty="0" err="1"/>
              <a:t>область</a:t>
            </a:r>
            <a:r>
              <a:rPr dirty="0"/>
              <a:t> и </a:t>
            </a:r>
            <a:r>
              <a:rPr dirty="0" err="1"/>
              <a:t>существующие</a:t>
            </a:r>
            <a:r>
              <a:rPr dirty="0"/>
              <a:t> </a:t>
            </a:r>
            <a:r>
              <a:rPr dirty="0" err="1"/>
              <a:t>аналоги</a:t>
            </a:r>
            <a:r>
              <a:rPr dirty="0"/>
              <a:t>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rPr dirty="0" err="1"/>
              <a:t>Обосновать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технологического</a:t>
            </a:r>
            <a:r>
              <a:rPr dirty="0"/>
              <a:t> </a:t>
            </a:r>
            <a:r>
              <a:rPr dirty="0" err="1"/>
              <a:t>стека</a:t>
            </a:r>
            <a:r>
              <a:rPr dirty="0"/>
              <a:t>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функциональные</a:t>
            </a:r>
            <a:r>
              <a:rPr dirty="0"/>
              <a:t> и </a:t>
            </a:r>
            <a:r>
              <a:rPr dirty="0" err="1"/>
              <a:t>нефункциональные</a:t>
            </a:r>
            <a:r>
              <a:rPr dirty="0"/>
              <a:t> </a:t>
            </a:r>
            <a:r>
              <a:rPr dirty="0" err="1"/>
              <a:t>требования</a:t>
            </a:r>
            <a:r>
              <a:rPr dirty="0"/>
              <a:t>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rPr dirty="0" err="1"/>
              <a:t>Спроектировать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, </a:t>
            </a:r>
            <a:r>
              <a:rPr dirty="0" err="1"/>
              <a:t>логическую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и </a:t>
            </a:r>
            <a:r>
              <a:rPr dirty="0" err="1"/>
              <a:t>базу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rPr dirty="0" err="1"/>
              <a:t>Реализовать</a:t>
            </a:r>
            <a:r>
              <a:rPr dirty="0"/>
              <a:t> </a:t>
            </a:r>
            <a:r>
              <a:rPr dirty="0" err="1"/>
              <a:t>клиентскую</a:t>
            </a:r>
            <a:r>
              <a:rPr dirty="0"/>
              <a:t> и </a:t>
            </a:r>
            <a:r>
              <a:rPr dirty="0" err="1"/>
              <a:t>серверную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, </a:t>
            </a:r>
            <a:r>
              <a:rPr dirty="0" err="1"/>
              <a:t>провести</a:t>
            </a:r>
            <a:r>
              <a:rPr dirty="0"/>
              <a:t> </a:t>
            </a:r>
            <a:r>
              <a:rPr dirty="0" err="1"/>
              <a:t>тестирование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Актуальность и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Списки «надо посмотреть» быстро разрастаются и теряются в заметках и мессенджерах.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Стриминговые сервисы не дают удобного личного учёта с оценками и заметками.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Пользователю нужен простой инструмент: статус просмотра, оценка, заметка, статистика.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«Кинополка» решает задачу структурированного учёта фильмов с синхронизацией на сервере.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Данные доступны с любого устройства после авторизации.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Сравнение с аналогами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Letterboxd — социальная платформа, англоязычный интерфейс, нет открытого API.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IMDb — огромная база, но личный учёт просмотра реализован ограниченно.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Кинопоиск — ориентирован на продажу подписки, а не на личный бэклог.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«Кинополка»: русскоязычный UI, фокус на статусах и заметках, открытая REST-архитектура.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Клиент-серверное хранение данных и возможность дальнейшего развития.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Функциональные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Регистрация и вход с JWT-авторизацией.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Каталог фильмов с поиском по названию (26 фильмов в демо-каталоге).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Добавление в бэклог: «Хочу посмотреть», «Смотрю», «Посмотрел».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Пользовательская оценка (0–10) и текстовые заметки.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Фильтрация бэклога по статусу, статистика в профиле.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Синхронизация данных между клиентом и сервером по REST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Технологический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B4"/>
                </a:solidFill>
                <a:latin typeface="Calibri"/>
              </a:defRPr>
            </a:pPr>
            <a:r>
              <a:t>Android-клиент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097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B4"/>
                </a:solidFill>
                <a:latin typeface="Calibri"/>
              </a:defRPr>
            </a:pPr>
            <a:r>
              <a:t>Сервер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3035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Kotlin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Jetpack Compose, Material 3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Navigation Compose, Hilt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Retrofit, OkHttp, Coil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ViewModel, StateFlow, MVVM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Android SDK 35, minSdk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53035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Kotlin, Spring Boot 3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Spring Web, Spring Data JPA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Hibernate, H2 (файловая БД)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JJWT — авторизация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BCrypt — хеширование паролей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REST API, 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Архитектура приложения</a:t>
            </a:r>
          </a:p>
        </p:txBody>
      </p:sp>
      <p:pic>
        <p:nvPicPr>
          <p:cNvPr id="4" name="Picture 3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80" y="1225296"/>
            <a:ext cx="7202170" cy="46463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7230" y="626364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04040"/>
                </a:solidFill>
                <a:latin typeface="Calibri"/>
              </a:defRPr>
            </a:pPr>
            <a:r>
              <a:t>Клиент (MVVM) ↔ REST/JSON/JWT ↔ Сервер (Controller → Service → Repository → H2)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Диаграмма вариантов использования</a:t>
            </a:r>
          </a:p>
        </p:txBody>
      </p:sp>
      <p:pic>
        <p:nvPicPr>
          <p:cNvPr id="4" name="Picture 3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981" y="1541776"/>
            <a:ext cx="5716270" cy="40761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04040"/>
                </a:solidFill>
                <a:latin typeface="Calibri"/>
              </a:defRPr>
            </a:pPr>
            <a:r>
              <a:t>Регистрация, работа с каталогом, управление бэклогом, просмотр профиля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Логическая модель и БД</a:t>
            </a:r>
          </a:p>
        </p:txBody>
      </p:sp>
      <p:pic>
        <p:nvPicPr>
          <p:cNvPr id="4" name="Picture 3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71471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04040"/>
                </a:solidFill>
                <a:latin typeface="Calibri"/>
              </a:defRPr>
            </a:pPr>
            <a:r>
              <a:t>Таблицы: users, movies, backlog_items (связь многие-ко-многим через backlog_items)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Пользовательский интерфейс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Три раздела нижней навигации: Каталог, Бэклог, Профиль.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Каталог: поиск, карточки фильмов, добавление в бэклог.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Бэклог: фильтры по статусу, редактирование оценки и заметки.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Профиль: данные пользователя, статистика, выход из аккаунта.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Material 3, поддержка светлой и тёмной темы.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На слайдах отчёта — скриншоты работающего приложения.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REST API (основные эндпоинты)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B4"/>
                </a:solidFill>
                <a:latin typeface="Calibri"/>
              </a:defRPr>
            </a:pPr>
            <a:r>
              <a:t>Клиент обращается к http://10.0.2.2:8080 (эмулятор → localhost ПК)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POST /api/auth/register — регистрация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POST /api/auth/login — вход, получение JWT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GET /api/movies?query= — каталог и поиск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GET /api/backlog?status= — список бэклога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POST /api/backlog — добавить фильм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PATCH /api/backlog/{id} — изменить статус, оценку, заметку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DELETE /api/backlog/{id} — удалить из бэклога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GET /api/profile/stats — статистика пользователя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Запуск и 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1. Запустить сервер: start_server.bat или KinopolkaApplication в Android Studio.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2. Дождаться строки Started KinopolkaApplicationKt (порт 8080).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3. Открыть MovieBacklogApp в Android Studio, запустить на эмуляторе.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4. Зарегистрироваться → найти фильм → добавить в бэклог.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5. Изменить статус, поставить оценку, посмотреть статистику.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Исходный код: github.com/Suhrob1978/HaydarovSR_KursovayaMobilki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Функциональное (ручное) тестирование по сценариям из отчёта.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Проверены: регистрация, вход, каталог, поиск, бэклог, профиль.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Обработка ошибок: неверный пароль, повторное добавление, отсутствие сети.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Сборка сервера с контекстом Spring Boot — успешно.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Все запланированные сценарии пройдены.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rPr dirty="0" err="1"/>
              <a:t>Разработано</a:t>
            </a:r>
            <a:r>
              <a:rPr dirty="0"/>
              <a:t> </a:t>
            </a:r>
            <a:r>
              <a:rPr dirty="0" err="1"/>
              <a:t>клиент-серверное</a:t>
            </a:r>
            <a:r>
              <a:rPr dirty="0"/>
              <a:t> </a:t>
            </a:r>
            <a:r>
              <a:rPr lang="ru-RU" dirty="0"/>
              <a:t>мобильное </a:t>
            </a:r>
            <a:r>
              <a:rPr dirty="0" err="1"/>
              <a:t>приложение</a:t>
            </a:r>
            <a:r>
              <a:rPr dirty="0"/>
              <a:t> «</a:t>
            </a:r>
            <a:r>
              <a:rPr dirty="0" err="1"/>
              <a:t>Кинополка</a:t>
            </a:r>
            <a:r>
              <a:rPr dirty="0"/>
              <a:t>» </a:t>
            </a:r>
            <a:r>
              <a:rPr dirty="0" err="1"/>
              <a:t>для</a:t>
            </a:r>
            <a:r>
              <a:rPr dirty="0"/>
              <a:t> Android.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rPr dirty="0" err="1"/>
              <a:t>Реализованы</a:t>
            </a:r>
            <a:r>
              <a:rPr dirty="0"/>
              <a:t> </a:t>
            </a:r>
            <a:r>
              <a:rPr dirty="0" err="1"/>
              <a:t>учёт</a:t>
            </a:r>
            <a:r>
              <a:rPr dirty="0"/>
              <a:t> </a:t>
            </a:r>
            <a:r>
              <a:rPr dirty="0" err="1"/>
              <a:t>фильмов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статусам</a:t>
            </a:r>
            <a:r>
              <a:rPr dirty="0"/>
              <a:t>, </a:t>
            </a:r>
            <a:r>
              <a:rPr dirty="0" err="1"/>
              <a:t>оценки</a:t>
            </a:r>
            <a:r>
              <a:rPr dirty="0"/>
              <a:t>, </a:t>
            </a:r>
            <a:r>
              <a:rPr dirty="0" err="1"/>
              <a:t>заметки</a:t>
            </a:r>
            <a:r>
              <a:rPr dirty="0"/>
              <a:t> и </a:t>
            </a:r>
            <a:r>
              <a:rPr dirty="0" err="1"/>
              <a:t>статистика</a:t>
            </a:r>
            <a:r>
              <a:rPr dirty="0"/>
              <a:t>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rPr dirty="0" err="1"/>
              <a:t>Применены</a:t>
            </a:r>
            <a:r>
              <a:rPr dirty="0"/>
              <a:t> </a:t>
            </a:r>
            <a:r>
              <a:rPr dirty="0" err="1"/>
              <a:t>современные</a:t>
            </a:r>
            <a:r>
              <a:rPr dirty="0"/>
              <a:t> </a:t>
            </a:r>
            <a:r>
              <a:rPr dirty="0" err="1"/>
              <a:t>технологии</a:t>
            </a:r>
            <a:r>
              <a:rPr dirty="0"/>
              <a:t>: Compose, Spring Boot, JWT, H2.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работоспособно</a:t>
            </a:r>
            <a:r>
              <a:rPr dirty="0"/>
              <a:t> и </a:t>
            </a:r>
            <a:r>
              <a:rPr dirty="0" err="1"/>
              <a:t>готово</a:t>
            </a:r>
            <a:r>
              <a:rPr dirty="0"/>
              <a:t> к </a:t>
            </a:r>
            <a:r>
              <a:rPr dirty="0" err="1"/>
              <a:t>демонстрации</a:t>
            </a:r>
            <a:r>
              <a:rPr dirty="0"/>
              <a:t>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rPr dirty="0" err="1"/>
              <a:t>Направления</a:t>
            </a:r>
            <a:r>
              <a:rPr dirty="0"/>
              <a:t> </a:t>
            </a:r>
            <a:r>
              <a:rPr dirty="0" err="1"/>
              <a:t>развития</a:t>
            </a:r>
            <a:r>
              <a:rPr dirty="0"/>
              <a:t>: </a:t>
            </a:r>
            <a:r>
              <a:rPr dirty="0" err="1"/>
              <a:t>рекомендации</a:t>
            </a:r>
            <a:r>
              <a:rPr dirty="0"/>
              <a:t>, </a:t>
            </a:r>
            <a:r>
              <a:rPr dirty="0" err="1"/>
              <a:t>интеграция</a:t>
            </a:r>
            <a:r>
              <a:rPr dirty="0"/>
              <a:t> с </a:t>
            </a:r>
            <a:r>
              <a:rPr dirty="0" err="1"/>
              <a:t>Kinopoisk</a:t>
            </a:r>
            <a:r>
              <a:rPr dirty="0"/>
              <a:t>/</a:t>
            </a:r>
            <a:r>
              <a:rPr dirty="0" err="1"/>
              <a:t>TMDb</a:t>
            </a:r>
            <a:r>
              <a:rPr dirty="0"/>
              <a:t> API, </a:t>
            </a:r>
            <a:r>
              <a:rPr dirty="0" err="1"/>
              <a:t>деплой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751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123</cp:lastModifiedBy>
  <cp:revision>2</cp:revision>
  <dcterms:created xsi:type="dcterms:W3CDTF">2013-01-27T09:14:16Z</dcterms:created>
  <dcterms:modified xsi:type="dcterms:W3CDTF">2026-05-30T20:45:35Z</dcterms:modified>
  <cp:category/>
</cp:coreProperties>
</file>